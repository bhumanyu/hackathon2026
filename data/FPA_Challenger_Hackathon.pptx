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73152" cy="292608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MQ HACKATHON  ·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MQ Topology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&amp; Automation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topology reasoning · Human-in-the-loop validation · Automation-ready output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1920240" cy="822960"/>
          </a:xfrm>
          <a:prstGeom prst="rect">
            <a:avLst/>
          </a:prstGeom>
          <a:solidFill>
            <a:srgbClr val="1E2535"/>
          </a:solidFill>
          <a:ln w="6350">
            <a:solidFill>
              <a:srgbClr val="2A3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05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87→44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43525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3977640"/>
            <a:ext cx="1920240" cy="822960"/>
          </a:xfrm>
          <a:prstGeom prst="rect">
            <a:avLst/>
          </a:prstGeom>
          <a:solidFill>
            <a:srgbClr val="1E2535"/>
          </a:solidFill>
          <a:ln w="6350">
            <a:solidFill>
              <a:srgbClr val="2A3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4005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88920" y="43525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Topology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3977640"/>
            <a:ext cx="1920240" cy="822960"/>
          </a:xfrm>
          <a:prstGeom prst="rect">
            <a:avLst/>
          </a:prstGeom>
          <a:solidFill>
            <a:srgbClr val="1E2535"/>
          </a:solidFill>
          <a:ln w="6350">
            <a:solidFill>
              <a:srgbClr val="2A3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005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43525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Fixed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3977640"/>
            <a:ext cx="1920240" cy="822960"/>
          </a:xfrm>
          <a:prstGeom prst="rect">
            <a:avLst/>
          </a:prstGeom>
          <a:solidFill>
            <a:srgbClr val="1E2535"/>
          </a:solidFill>
          <a:ln w="6350">
            <a:solidFill>
              <a:srgbClr val="2A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4005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QMs→4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43525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Reduced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MQ Environments Grow Unmanageable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29600" cy="228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topologies evolve organically over years — accumulating technical debt that becomes extremely costly to fix: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4114800" cy="658368"/>
          </a:xfrm>
          <a:prstGeom prst="rect">
            <a:avLst/>
          </a:prstGeom>
          <a:solidFill>
            <a:srgbClr val="1E2535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01952"/>
            <a:ext cx="54864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29968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Multi-QM App Connections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49424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span multiple queue managers, breaking ownership boundaries and blocking automation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114800" cy="658368"/>
          </a:xfrm>
          <a:prstGeom prst="rect">
            <a:avLst/>
          </a:prstGeom>
          <a:solidFill>
            <a:srgbClr val="1E2535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7977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Channel Names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999232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LEGACY_TO_ORDERS instead of fromQM.toQM — breaks provisioning scripts entirely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114800" cy="658368"/>
          </a:xfrm>
          <a:prstGeom prst="rect">
            <a:avLst/>
          </a:prstGeom>
          <a:solidFill>
            <a:srgbClr val="1E2535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01568"/>
            <a:ext cx="54864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29584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Dead Objects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74904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with no producers or consumers inflate complexity and confuse developers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4114800" cy="658368"/>
          </a:xfrm>
          <a:prstGeom prst="rect">
            <a:avLst/>
          </a:prstGeom>
          <a:solidFill>
            <a:srgbClr val="1E2535"/>
          </a:solidFill>
          <a:ln w="1016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51376"/>
            <a:ext cx="54864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279392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Hub Sprawl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498848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QMs acting as catch-all hubs create brittle single points of failure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1261872"/>
            <a:ext cx="3840480" cy="3547872"/>
          </a:xfrm>
          <a:prstGeom prst="rect">
            <a:avLst/>
          </a:prstGeom>
          <a:solidFill>
            <a:srgbClr val="162030"/>
          </a:solidFill>
          <a:ln w="6350">
            <a:solidFill>
              <a:srgbClr val="2A3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AS-IS TOPOLOGY — COMPLEXITY SCORE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0" y="157276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502920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2834640"/>
            <a:ext cx="1554480" cy="384048"/>
          </a:xfrm>
          <a:prstGeom prst="rect">
            <a:avLst/>
          </a:prstGeom>
          <a:solidFill>
            <a:srgbClr val="3D101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529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2356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834640"/>
            <a:ext cx="1554480" cy="384048"/>
          </a:xfrm>
          <a:prstGeom prst="rect">
            <a:avLst/>
          </a:prstGeom>
          <a:solidFill>
            <a:srgbClr val="3D101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8529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6092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310128"/>
            <a:ext cx="1554480" cy="384048"/>
          </a:xfrm>
          <a:prstGeom prst="rect">
            <a:avLst/>
          </a:prstGeom>
          <a:solidFill>
            <a:srgbClr val="3D101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3284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3383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Queues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3310128"/>
            <a:ext cx="1554480" cy="384048"/>
          </a:xfrm>
          <a:prstGeom prst="rect">
            <a:avLst/>
          </a:prstGeom>
          <a:solidFill>
            <a:srgbClr val="3D101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3284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60920" y="3383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Multi-QM Apps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3785616"/>
            <a:ext cx="1554480" cy="384048"/>
          </a:xfrm>
          <a:prstGeom prst="rect">
            <a:avLst/>
          </a:prstGeom>
          <a:solidFill>
            <a:srgbClr val="3D101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8039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23560" y="3858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Channel Names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PROPOSED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+ Human Validation + Automated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29600" cy="228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40280"/>
            <a:ext cx="8229600" cy="73152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1828800" cy="2286000"/>
          </a:xfrm>
          <a:prstGeom prst="rect">
            <a:avLst/>
          </a:prstGeom>
          <a:solidFill>
            <a:srgbClr val="1E253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389888"/>
            <a:ext cx="548640" cy="5486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input files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04288" y="2231136"/>
            <a:ext cx="237744" cy="91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298448"/>
            <a:ext cx="1828800" cy="2286000"/>
          </a:xfrm>
          <a:prstGeom prst="rect">
            <a:avLst/>
          </a:prstGeom>
          <a:solidFill>
            <a:srgbClr val="1E2535"/>
          </a:solidFill>
          <a:ln w="12700">
            <a:solidFill>
              <a:srgbClr val="4AD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89888"/>
            <a:ext cx="548640" cy="5486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4ADE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engine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2231136"/>
            <a:ext cx="237744" cy="9144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298448"/>
            <a:ext cx="1828800" cy="2286000"/>
          </a:xfrm>
          <a:prstGeom prst="rect">
            <a:avLst/>
          </a:prstGeom>
          <a:solidFill>
            <a:srgbClr val="1E2535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389888"/>
            <a:ext cx="548640" cy="5486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10528" y="2231136"/>
            <a:ext cx="237744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298448"/>
            <a:ext cx="1828800" cy="2286000"/>
          </a:xfrm>
          <a:prstGeom prst="rect">
            <a:avLst/>
          </a:prstGeom>
          <a:solidFill>
            <a:srgbClr val="1E2535"/>
          </a:solidFill>
          <a:ln w="12700">
            <a:solidFill>
              <a:srgbClr val="4AD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0" y="1389888"/>
            <a:ext cx="548640" cy="54864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4ADE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2057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CSV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Automation-ready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182880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4ADE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03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Constraint-First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05993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traces to 1 of 4 core IBM MQ rules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0" y="3749040"/>
            <a:ext cx="182880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0" y="3749040"/>
            <a:ext cx="18288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3803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405993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explains WHY, not just what changed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749040"/>
            <a:ext cx="182880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749040"/>
            <a:ext cx="182880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03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05993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applied without explicit architect sign-off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66560" y="3749040"/>
            <a:ext cx="1828800" cy="1005840"/>
          </a:xfrm>
          <a:prstGeom prst="rect">
            <a:avLst/>
          </a:prstGeom>
          <a:solidFill>
            <a:srgbClr val="162030"/>
          </a:solidFill>
          <a:ln w="6350">
            <a:solidFill>
              <a:srgbClr val="4ADE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3749040"/>
            <a:ext cx="1828800" cy="36576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803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05993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complexity score — before and after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Browser App · Zero Dependencies · Open &amp;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29600" cy="228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420624" cy="566928"/>
          </a:xfrm>
          <a:prstGeom prst="rect">
            <a:avLst/>
          </a:prstGeom>
          <a:solidFill>
            <a:srgbClr val="1A2A3D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9105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score comparison, constraint checklist, change timeline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1892808"/>
            <a:ext cx="768096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48256"/>
            <a:ext cx="420624" cy="566928"/>
          </a:xfrm>
          <a:prstGeom prst="rect">
            <a:avLst/>
          </a:prstGeom>
          <a:solidFill>
            <a:srgbClr val="1A3D2B"/>
          </a:solidFill>
          <a:ln w="10160">
            <a:solidFill>
              <a:srgbClr val="4AD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48256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4086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SVG graph. Toggle As-Is / Target / Side-by-Side. Click any node.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2642616"/>
            <a:ext cx="768096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98064"/>
            <a:ext cx="420624" cy="566928"/>
          </a:xfrm>
          <a:prstGeom prst="rect">
            <a:avLst/>
          </a:prstGeom>
          <a:solidFill>
            <a:srgbClr val="3D2A0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98064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52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0906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call, streaming terminal log, violations + decisions 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3392424"/>
            <a:ext cx="768096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47872"/>
            <a:ext cx="420624" cy="566928"/>
          </a:xfrm>
          <a:prstGeom prst="rect">
            <a:avLst/>
          </a:prstGeom>
          <a:solidFill>
            <a:srgbClr val="1A3D2B"/>
          </a:solidFill>
          <a:ln w="10160">
            <a:solidFill>
              <a:srgbClr val="4ADE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47872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602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Step-through proposals: Approve / Reject / Skip. Live decision log.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" y="4142232"/>
            <a:ext cx="768096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420624" cy="566928"/>
          </a:xfrm>
          <a:prstGeom prst="rect">
            <a:avLst/>
          </a:prstGeom>
          <a:solidFill>
            <a:srgbClr val="1A2A3D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352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59028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target-state CSVs downloadable. Formula recap. Decision audit trail.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1298448"/>
            <a:ext cx="2194560" cy="3383280"/>
          </a:xfrm>
          <a:prstGeom prst="rect">
            <a:avLst/>
          </a:prstGeom>
          <a:solidFill>
            <a:srgbClr val="1A3D2B"/>
          </a:solidFill>
          <a:ln w="10160">
            <a:solidFill>
              <a:srgbClr val="4AD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2606040"/>
            <a:ext cx="1828800" cy="9144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open HTML.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3611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live 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41148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powered by Anthropic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App · External AI · Zero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29600" cy="228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5577840" cy="749808"/>
          </a:xfrm>
          <a:prstGeom prst="rect">
            <a:avLst/>
          </a:prstGeom>
          <a:solidFill>
            <a:srgbClr val="1A2A3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Topology · Agent · Validate · Export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5577840" cy="749808"/>
          </a:xfrm>
          <a:prstGeom prst="rect">
            <a:avLst/>
          </a:prstGeom>
          <a:solidFill>
            <a:srgbClr val="1A3D2B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042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Engine · Complexity Calculator · Validation · Agent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5577840" cy="749808"/>
          </a:xfrm>
          <a:prstGeom prst="rect">
            <a:avLst/>
          </a:prstGeom>
          <a:solidFill>
            <a:srgbClr val="3D2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186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CSVs — ASIS_DATA · TARGET_CSVS · PROPOSALS · VIOLATIONS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2075688"/>
            <a:ext cx="73152" cy="1371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990088"/>
            <a:ext cx="73152" cy="1371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298448"/>
            <a:ext cx="2377440" cy="3200400"/>
          </a:xfrm>
          <a:prstGeom prst="rect">
            <a:avLst/>
          </a:prstGeom>
          <a:solidFill>
            <a:srgbClr val="1E2535"/>
          </a:solidFill>
          <a:ln w="12700">
            <a:solidFill>
              <a:srgbClr val="4AD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417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359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651760"/>
            <a:ext cx="182880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7432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Topology reasoning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98094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Constraint enforcement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32186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JSON schema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345643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Fallback built-in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2276856"/>
            <a:ext cx="347472" cy="54864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1488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As-Is CSVs → Agent Analysis → Human Validation → Target CSVs → Provisioning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IMPACT &amp;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Simpler · All 12 Violations Fixed · 0 Constraints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29600" cy="228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286000" cy="1828800"/>
          </a:xfrm>
          <a:prstGeom prst="rect">
            <a:avLst/>
          </a:prstGeom>
          <a:solidFill>
            <a:srgbClr val="3D1010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880360" y="2542032"/>
            <a:ext cx="731520" cy="274320"/>
          </a:xfrm>
          <a:prstGeom prst="rect">
            <a:avLst/>
          </a:prstGeom>
          <a:solidFill>
            <a:srgbClr val="1A3D2B"/>
          </a:solidFill>
          <a:ln w="6350">
            <a:solidFill>
              <a:srgbClr val="4AD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254203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49%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298448"/>
            <a:ext cx="2286000" cy="1828800"/>
          </a:xfrm>
          <a:prstGeom prst="rect">
            <a:avLst/>
          </a:prstGeom>
          <a:solidFill>
            <a:srgbClr val="1A3D2B"/>
          </a:solidFill>
          <a:ln w="12700">
            <a:solidFill>
              <a:srgbClr val="4AD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389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16276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3749040" y="2578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BREAKDOWN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0" y="15361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0" y="15361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92440" y="15361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49640" y="1536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737360"/>
            <a:ext cx="2560320" cy="292608"/>
          </a:xfrm>
          <a:prstGeom prst="rect">
            <a:avLst/>
          </a:prstGeom>
          <a:solidFill>
            <a:srgbClr val="1E2535"/>
          </a:solidFill>
          <a:ln w="3810">
            <a:solidFill>
              <a:srgbClr val="2A3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7830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16368" y="17830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73568" y="17830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39328" y="178308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057400"/>
            <a:ext cx="2560320" cy="292608"/>
          </a:xfrm>
          <a:prstGeom prst="rect">
            <a:avLst/>
          </a:prstGeom>
          <a:solidFill>
            <a:srgbClr val="162030"/>
          </a:solidFill>
          <a:ln w="3810">
            <a:solidFill>
              <a:srgbClr val="2A3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21031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16368" y="21031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73568" y="21031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39328" y="21031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377440"/>
            <a:ext cx="2560320" cy="292608"/>
          </a:xfrm>
          <a:prstGeom prst="rect">
            <a:avLst/>
          </a:prstGeom>
          <a:solidFill>
            <a:srgbClr val="1E2535"/>
          </a:solidFill>
          <a:ln w="3810">
            <a:solidFill>
              <a:srgbClr val="2A35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4231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Queues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16368" y="24231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73568" y="2423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39328" y="242316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2697480"/>
            <a:ext cx="2560320" cy="292608"/>
          </a:xfrm>
          <a:prstGeom prst="rect">
            <a:avLst/>
          </a:prstGeom>
          <a:solidFill>
            <a:srgbClr val="162030"/>
          </a:solidFill>
          <a:ln w="3810">
            <a:solidFill>
              <a:srgbClr val="2A35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743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Multi-QM Apps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27432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73568" y="27432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39328" y="274320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3017520"/>
            <a:ext cx="2560320" cy="292608"/>
          </a:xfrm>
          <a:prstGeom prst="rect">
            <a:avLst/>
          </a:prstGeom>
          <a:solidFill>
            <a:srgbClr val="1E2535"/>
          </a:solidFill>
          <a:ln w="3810">
            <a:solidFill>
              <a:srgbClr val="2A35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063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Chan Names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16368" y="30632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73568" y="30632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39328" y="30632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273552"/>
            <a:ext cx="8229600" cy="5486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3832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CONSTRAINTS SATISFIED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657600"/>
            <a:ext cx="3931920" cy="274320"/>
          </a:xfrm>
          <a:prstGeom prst="rect">
            <a:avLst/>
          </a:prstGeom>
          <a:solidFill>
            <a:srgbClr val="1A3D2B"/>
          </a:solidFill>
          <a:ln w="5080">
            <a:solidFill>
              <a:srgbClr val="4ADE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6941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QM per AppID — all 8 apps compliant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657600"/>
            <a:ext cx="3931920" cy="274320"/>
          </a:xfrm>
          <a:prstGeom prst="rect">
            <a:avLst/>
          </a:prstGeom>
          <a:solidFill>
            <a:srgbClr val="1A3D2B"/>
          </a:solidFill>
          <a:ln w="5080">
            <a:solidFill>
              <a:srgbClr val="4ADE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6941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remoteQ → xmitq → channel pattern enforced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005072"/>
            <a:ext cx="3931920" cy="274320"/>
          </a:xfrm>
          <a:prstGeom prst="rect">
            <a:avLst/>
          </a:prstGeom>
          <a:solidFill>
            <a:srgbClr val="1A3D2B"/>
          </a:solidFill>
          <a:ln w="5080">
            <a:solidFill>
              <a:srgbClr val="4ADE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0416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6 channels follow fromQM.toQM naming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4005072"/>
            <a:ext cx="3931920" cy="274320"/>
          </a:xfrm>
          <a:prstGeom prst="rect">
            <a:avLst/>
          </a:prstGeom>
          <a:solidFill>
            <a:srgbClr val="1A3D2B"/>
          </a:solidFill>
          <a:ln w="5080">
            <a:solidFill>
              <a:srgbClr val="4ADE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416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consumers on local queues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NEXT STEPS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→ Production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229600" cy="2286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651760" cy="3493008"/>
          </a:xfrm>
          <a:prstGeom prst="rect">
            <a:avLst/>
          </a:prstGeom>
          <a:solidFill>
            <a:srgbClr val="1E2535"/>
          </a:solidFill>
          <a:ln w="10160">
            <a:solidFill>
              <a:srgbClr val="4ADE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2651760" cy="54864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Near-Term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Sprint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83664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933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CSV upload — drag-and-drop user files at runtime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542032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MQ discovery via IBM MQ REST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01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Cycle detection — flag circular routing paths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858768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684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MQSC / Ansible output from target CSVs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1298448"/>
            <a:ext cx="2651760" cy="3493008"/>
          </a:xfrm>
          <a:prstGeom prst="rect">
            <a:avLst/>
          </a:prstGeom>
          <a:solidFill>
            <a:srgbClr val="1E2535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55848" y="1298448"/>
            <a:ext cx="265176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Medium-Term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93008" y="1645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93008" y="1883664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9933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 constraint rules per organisation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93008" y="2542032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651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Multi-environment DEV / UAT / PROD 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93008" y="3200400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3101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Version control — commit target CSVs to Git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93008" y="3858768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39684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Formal change document generation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4496" y="1298448"/>
            <a:ext cx="2651760" cy="3493008"/>
          </a:xfrm>
          <a:prstGeom prst="rect">
            <a:avLst/>
          </a:prstGeom>
          <a:solidFill>
            <a:srgbClr val="1E2535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1298448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91656" y="1645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91656" y="1883664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19933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Continuous topology governance (scheduled runs)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91656" y="2542032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651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provisioning pipeline integration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91656" y="3200400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33101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Natural language querying of MQ topology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91656" y="3858768"/>
            <a:ext cx="2377440" cy="9144"/>
          </a:xfrm>
          <a:prstGeom prst="rect">
            <a:avLst/>
          </a:prstGeom>
          <a:solidFill>
            <a:srgbClr val="2A3547"/>
          </a:solidFill>
          <a:ln w="12700">
            <a:solidFill>
              <a:srgbClr val="2A35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39684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What-if simulation before applying changes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73152" cy="274320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MQ Topology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&amp; Automation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IBM MQ Hackathon  · 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828800" cy="777240"/>
          </a:xfrm>
          <a:prstGeom prst="rect">
            <a:avLst/>
          </a:prstGeom>
          <a:solidFill>
            <a:srgbClr val="1E2535"/>
          </a:solidFill>
          <a:ln w="7620">
            <a:solidFill>
              <a:srgbClr val="4ADE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918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 → 44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3246120"/>
            <a:ext cx="1828800" cy="777240"/>
          </a:xfrm>
          <a:prstGeom prst="rect">
            <a:avLst/>
          </a:prstGeom>
          <a:solidFill>
            <a:srgbClr val="1E2535"/>
          </a:solidFill>
          <a:ln w="7620">
            <a:solidFill>
              <a:srgbClr val="4ADE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2918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Topology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3246120"/>
            <a:ext cx="1828800" cy="777240"/>
          </a:xfrm>
          <a:prstGeom prst="rect">
            <a:avLst/>
          </a:prstGeom>
          <a:solidFill>
            <a:srgbClr val="1E2535"/>
          </a:solidFill>
          <a:ln w="7620">
            <a:solidFill>
              <a:srgbClr val="4ADE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918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Fixed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3246120"/>
            <a:ext cx="1828800" cy="777240"/>
          </a:xfrm>
          <a:prstGeom prst="rect">
            <a:avLst/>
          </a:prstGeom>
          <a:solidFill>
            <a:srgbClr val="1E2535"/>
          </a:solidFill>
          <a:ln w="7620">
            <a:solidFill>
              <a:srgbClr val="4ADE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2918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Tools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0 Deps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tools/mq_master_dashboard.html to see the live demo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ADE9A"/>
          </a:solidFill>
          <a:ln w="12700">
            <a:solidFill>
              <a:srgbClr val="4ADE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MQ Topology Simplification &amp; Automation</dc:title>
  <dc:subject>PptxGenJS Presentation</dc:subject>
  <dc:creator>MQ Hackathon Team</dc:creator>
  <cp:lastModifiedBy>MQ Hackathon Team</cp:lastModifiedBy>
  <cp:revision>1</cp:revision>
  <dcterms:created xsi:type="dcterms:W3CDTF">2026-04-06T12:06:55Z</dcterms:created>
  <dcterms:modified xsi:type="dcterms:W3CDTF">2026-04-06T12:06:55Z</dcterms:modified>
</cp:coreProperties>
</file>